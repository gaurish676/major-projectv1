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t>CREDITZ (Prototype v2)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An Intelligent Co-Curricular Activity Credit Management &amp; Verification System</a:t>
            </a:r>
          </a:p>
          <a:p>
            <a:pPr>
              <a:spcBef>
                <a:spcPts val="600"/>
              </a:spcBef>
              <a:defRPr sz="1300">
                <a:solidFill>
                  <a:srgbClr val="B4C3DC"/>
                </a:solidFill>
              </a:defRPr>
            </a:pPr>
            <a:r>
              <a:t>Automating AICTE 200 Activity Points Lifecycle with Multimodal AI Vision &amp; Deterministic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10362895" cy="2468880"/>
          </a:xfrm>
          <a:prstGeom prst="roundRect">
            <a:avLst/>
          </a:prstGeom>
          <a:solidFill>
            <a:srgbClr val="111E44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PROJECT TEAM (Department of Computer Science &amp; Engineering)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• Sharan P Shetty (NNM23CS176)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• Sampath Kumar (NNM23CS167)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• Ronak Shetty (NNM23CS157)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• Gaurish Bangera (NNM23CS144)</a:t>
            </a:r>
          </a:p>
          <a:p>
            <a:pPr>
              <a:spcBef>
                <a:spcPts val="1200"/>
              </a:spcBef>
              <a:defRPr sz="1100">
                <a:solidFill>
                  <a:srgbClr val="38BDF8"/>
                </a:solidFill>
              </a:defRPr>
            </a:pPr>
            <a:r>
              <a:t>NMAM Institute of Technology, Nitte (Deemed to be University) • Academic Year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CREDITZ PROTOTYPE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Challenge: Manual Verification vs. Creditz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11E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7171"/>
                </a:solidFill>
              </a:defRPr>
            </a:pPr>
            <a:r>
              <a:t>THE PROBLEM (Current Legacy Process)</a:t>
            </a:r>
          </a:p>
          <a:p>
            <a:pPr>
              <a:spcBef>
                <a:spcPts val="1000"/>
              </a:spcBef>
              <a:defRPr sz="1150">
                <a:solidFill>
                  <a:srgbClr val="B4C3DC"/>
                </a:solidFill>
              </a:defRPr>
            </a:pPr>
            <a:r>
              <a:t>• Manual Verification Overhead: Faculty mentors spend weeks manually checking paper certificates and spreadsheets.</a:t>
            </a:r>
          </a:p>
          <a:p>
            <a:pPr>
              <a:spcBef>
                <a:spcPts val="1000"/>
              </a:spcBef>
              <a:defRPr sz="1150">
                <a:solidFill>
                  <a:srgbClr val="B4C3DC"/>
                </a:solidFill>
              </a:defRPr>
            </a:pPr>
            <a:r>
              <a:t>• Certificate Fraud &amp; Tampering: Zero automated validation for forged certificates, fake issuers, or borrowed credentials.</a:t>
            </a:r>
          </a:p>
          <a:p>
            <a:pPr>
              <a:spcBef>
                <a:spcPts val="1000"/>
              </a:spcBef>
              <a:defRPr sz="1150">
                <a:solidFill>
                  <a:srgbClr val="B4C3DC"/>
                </a:solidFill>
              </a:defRPr>
            </a:pPr>
            <a:r>
              <a:t>• Final-Year Credit Dumping: Students submit all 200 points in semester 7/8, defeating the goal of continuous development.</a:t>
            </a:r>
          </a:p>
          <a:p>
            <a:pPr>
              <a:spcBef>
                <a:spcPts val="1000"/>
              </a:spcBef>
              <a:defRPr sz="1150">
                <a:solidFill>
                  <a:srgbClr val="B4C3DC"/>
                </a:solidFill>
              </a:defRPr>
            </a:pPr>
            <a:r>
              <a:t>• No Institutional Visibility: HODs have no real-time metrics on degree clearance risks until final graduation audits.</a:t>
            </a:r>
          </a:p>
          <a:p>
            <a:pPr>
              <a:spcBef>
                <a:spcPts val="1000"/>
              </a:spcBef>
              <a:defRPr sz="1150">
                <a:solidFill>
                  <a:srgbClr val="B4C3DC"/>
                </a:solidFill>
              </a:defRPr>
            </a:pPr>
            <a:r>
              <a:t>• Evaluation Latency: Students wait months to know if their activity claims were accepted or rejected.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111E4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ADE80"/>
                </a:solidFill>
              </a:defRPr>
            </a:pPr>
            <a:r>
              <a:t>THE CREDITZ SOLUTION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</a:defRPr>
            </a:pPr>
            <a:r>
              <a:t>✓ Automated Multimodal OCR: Google Gemini 1.5 Flash Vision automatically extracts certificate details in seconds.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</a:defRPr>
            </a:pPr>
            <a:r>
              <a:t>✓ AI Discrepancy &amp; Fraud Check: Real-time validation flags name mismatches, altered dates, and suspicious templates.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</a:defRPr>
            </a:pPr>
            <a:r>
              <a:t>✓ Strict 30 Pts/Semester Ceilings: Computational enforcement ensures continuous participation across all 8 semesters.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</a:defRPr>
            </a:pPr>
            <a:r>
              <a:t>✓ Executive Governance Console: Live HOD analytics monitor clearance rates, domain caps, and faculty workloads.</a:t>
            </a:r>
          </a:p>
          <a:p>
            <a:pPr>
              <a:spcBef>
                <a:spcPts val="1000"/>
              </a:spcBef>
              <a:defRPr sz="1150">
                <a:solidFill>
                  <a:srgbClr val="FFFFFF"/>
                </a:solidFill>
              </a:defRPr>
            </a:pPr>
            <a:r>
              <a:t>✓ 1-Click Verification Workflows: Mentors review side-by-side certificate proofs and AI audit badges instantly.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CREDITZ PROTOTYPE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Objectives &amp;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841248"/>
          </a:xfrm>
          <a:prstGeom prst="roundRect">
            <a:avLst/>
          </a:prstGeom>
          <a:solidFill>
            <a:srgbClr val="111E44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1. Multi-Role Institutional Architecture</a:t>
            </a:r>
          </a:p>
          <a:p>
            <a:pPr>
              <a:spcBef>
                <a:spcPts val="200"/>
              </a:spcBef>
              <a:defRPr sz="1100">
                <a:solidFill>
                  <a:srgbClr val="B4C3DC"/>
                </a:solidFill>
              </a:defRPr>
            </a:pPr>
            <a:r>
              <a:t>Implement strict Role-Based Access Control (RBAC) connecting Students, Faculty Mentors, and HODs in a unified single-page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10698480" cy="841248"/>
          </a:xfrm>
          <a:prstGeom prst="roundRect">
            <a:avLst/>
          </a:prstGeom>
          <a:solidFill>
            <a:srgbClr val="111E44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2. Automated Certificate Fraud Detection</a:t>
            </a:r>
          </a:p>
          <a:p>
            <a:pPr>
              <a:spcBef>
                <a:spcPts val="200"/>
              </a:spcBef>
              <a:defRPr sz="1100">
                <a:solidFill>
                  <a:srgbClr val="B4C3DC"/>
                </a:solidFill>
              </a:defRPr>
            </a:pPr>
            <a:r>
              <a:t>Integrate Google Gemini 1.5 Flash Vision to inspect student certificate proofs (PDF, PNG, JPG), extracting metadata and computing authenticity confidence scores.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698480" cy="841248"/>
          </a:xfrm>
          <a:prstGeom prst="roundRect">
            <a:avLst/>
          </a:prstGeom>
          <a:solidFill>
            <a:srgbClr val="111E44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3. Deterministic Credit Ceiling Enforcement</a:t>
            </a:r>
          </a:p>
          <a:p>
            <a:pPr>
              <a:spcBef>
                <a:spcPts val="200"/>
              </a:spcBef>
              <a:defRPr sz="1100">
                <a:solidFill>
                  <a:srgbClr val="B4C3DC"/>
                </a:solidFill>
              </a:defRPr>
            </a:pPr>
            <a:r>
              <a:t>Compute raw vs. effective points using an arithmetic rules engine enforcing a 30-point semester ceiling and university category domain caps.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34840"/>
            <a:ext cx="10698480" cy="841248"/>
          </a:xfrm>
          <a:prstGeom prst="roundRect">
            <a:avLst/>
          </a:prstGeom>
          <a:solidFill>
            <a:srgbClr val="111E44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4. Transparent Side-by-Side Evaluation Queue</a:t>
            </a:r>
          </a:p>
          <a:p>
            <a:pPr>
              <a:spcBef>
                <a:spcPts val="200"/>
              </a:spcBef>
              <a:defRPr sz="1100">
                <a:solidFill>
                  <a:srgbClr val="B4C3DC"/>
                </a:solidFill>
              </a:defRPr>
            </a:pPr>
            <a:r>
              <a:t>Provide faculty mentors with an interactive inspection console showing original certificate proofs alongside automated AI discrepancy flags.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59"/>
            <a:ext cx="10698480" cy="841248"/>
          </a:xfrm>
          <a:prstGeom prst="roundRect">
            <a:avLst/>
          </a:prstGeom>
          <a:solidFill>
            <a:srgbClr val="111E44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5. Institutional Governance &amp; Compliance Reporting</a:t>
            </a:r>
          </a:p>
          <a:p>
            <a:pPr>
              <a:spcBef>
                <a:spcPts val="200"/>
              </a:spcBef>
              <a:defRPr sz="1100">
                <a:solidFill>
                  <a:srgbClr val="B4C3DC"/>
                </a:solidFill>
              </a:defRPr>
            </a:pPr>
            <a:r>
              <a:t>Deliver aggregate department-wide clearance metrics, student-mentor allocations, and one-click accreditation CSV audit rosters.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CREDITZ PROTOTYPE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Architecture: 3-Tier Layered Design</a:t>
            </a:r>
          </a:p>
        </p:txBody>
      </p:sp>
      <p:pic>
        <p:nvPicPr>
          <p:cNvPr id="5" name="Picture 4" descr="creditz_system_architecture_17886826876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13232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463040"/>
            <a:ext cx="3383280" cy="4937760"/>
          </a:xfrm>
          <a:prstGeom prst="roundRect">
            <a:avLst/>
          </a:prstGeom>
          <a:solidFill>
            <a:srgbClr val="111E4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ARCHITECTURE HIGHLIGHTS</a:t>
            </a:r>
          </a:p>
          <a:p>
            <a:pPr>
              <a:spcBef>
                <a:spcPts val="800"/>
              </a:spcBef>
              <a:defRPr sz="1050">
                <a:solidFill>
                  <a:srgbClr val="B4C3DC"/>
                </a:solidFill>
              </a:defRPr>
            </a:pPr>
            <a:r>
              <a:t>• Presentation Layer: React 19 SPA with TypeScript, Tailwind CSS v4, and Lucide icons.</a:t>
            </a:r>
          </a:p>
          <a:p>
            <a:pPr>
              <a:spcBef>
                <a:spcPts val="800"/>
              </a:spcBef>
              <a:defRPr sz="1050">
                <a:solidFill>
                  <a:srgbClr val="B4C3DC"/>
                </a:solidFill>
              </a:defRPr>
            </a:pPr>
            <a:r>
              <a:t>• Application Backend: Node.js Express REST API server coordinating authentication, file storage, and points rules.</a:t>
            </a:r>
          </a:p>
          <a:p>
            <a:pPr>
              <a:spcBef>
                <a:spcPts val="800"/>
              </a:spcBef>
              <a:defRPr sz="1050">
                <a:solidFill>
                  <a:srgbClr val="B4C3DC"/>
                </a:solidFill>
              </a:defRPr>
            </a:pPr>
            <a:r>
              <a:t>• Deterministic Engine: Independent mathematical module enforcing 30 pts/sem and category limits.</a:t>
            </a:r>
          </a:p>
          <a:p>
            <a:pPr>
              <a:spcBef>
                <a:spcPts val="800"/>
              </a:spcBef>
              <a:defRPr sz="1050">
                <a:solidFill>
                  <a:srgbClr val="B4C3DC"/>
                </a:solidFill>
              </a:defRPr>
            </a:pPr>
            <a:r>
              <a:t>• AI Vision Engine: Google Gemini 1.5 Flash Vision Multimodal OCR with offline smart heuristic fallback.</a:t>
            </a:r>
          </a:p>
          <a:p>
            <a:pPr>
              <a:spcBef>
                <a:spcPts val="800"/>
              </a:spcBef>
              <a:defRPr sz="1050">
                <a:solidFill>
                  <a:srgbClr val="B4C3DC"/>
                </a:solidFill>
              </a:defRPr>
            </a:pPr>
            <a:r>
              <a:t>• Persistence: SQLite database running in high-performance Write-Ahead Logging (WAL) mode.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CREDITZ PROTOTYPE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Database Schema &amp; Entity-Relationship (ER) Model</a:t>
            </a:r>
          </a:p>
        </p:txBody>
      </p:sp>
      <p:pic>
        <p:nvPicPr>
          <p:cNvPr id="5" name="Picture 4" descr="creditz_er_diagram_17886827072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13232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463040"/>
            <a:ext cx="3383280" cy="4937760"/>
          </a:xfrm>
          <a:prstGeom prst="roundRect">
            <a:avLst/>
          </a:prstGeom>
          <a:solidFill>
            <a:srgbClr val="111E44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KEY RELATIONAL ENTITIES</a:t>
            </a:r>
          </a:p>
          <a:p>
            <a:pPr>
              <a:spcBef>
                <a:spcPts val="800"/>
              </a:spcBef>
              <a:defRPr sz="1050">
                <a:solidFill>
                  <a:srgbClr val="B4C3DC"/>
                </a:solidFill>
              </a:defRPr>
            </a:pPr>
            <a:r>
              <a:t>• Users: Central entity managing Student, Mentor, and HOD roles with department foreign keys.</a:t>
            </a:r>
          </a:p>
          <a:p>
            <a:pPr>
              <a:spcBef>
                <a:spcPts val="800"/>
              </a:spcBef>
              <a:defRPr sz="1050">
                <a:solidFill>
                  <a:srgbClr val="B4C3DC"/>
                </a:solidFill>
              </a:defRPr>
            </a:pPr>
            <a:r>
              <a:t>• Submissions: Holds student proof uploads, claimed points, status (pending/approved/rejected), and AI audit JSON.</a:t>
            </a:r>
          </a:p>
          <a:p>
            <a:pPr>
              <a:spcBef>
                <a:spcPts val="800"/>
              </a:spcBef>
              <a:defRPr sz="1050">
                <a:solidFill>
                  <a:srgbClr val="B4C3DC"/>
                </a:solidFill>
              </a:defRPr>
            </a:pPr>
            <a:r>
              <a:t>• Activity_Schema: Institutional catalog of activities, base points, criteria, and version tracking.</a:t>
            </a:r>
          </a:p>
          <a:p>
            <a:pPr>
              <a:spcBef>
                <a:spcPts val="800"/>
              </a:spcBef>
              <a:defRPr sz="1050">
                <a:solidFill>
                  <a:srgbClr val="B4C3DC"/>
                </a:solidFill>
              </a:defRPr>
            </a:pPr>
            <a:r>
              <a:t>• Schema_Categories: Governs domain credit caps (max 50 pts online, max 60 pts hackathons).</a:t>
            </a:r>
          </a:p>
          <a:p>
            <a:pPr>
              <a:spcBef>
                <a:spcPts val="800"/>
              </a:spcBef>
              <a:defRPr sz="1050">
                <a:solidFill>
                  <a:srgbClr val="B4C3DC"/>
                </a:solidFill>
              </a:defRPr>
            </a:pPr>
            <a:r>
              <a:t>• Student_Marks: Semester-wise CIE exam marks, lab scores, and SGPA calculations.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CREDITZ PROTOTYPE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End-to-End Operational Lifecycle &amp; Verification Flow</a:t>
            </a:r>
          </a:p>
        </p:txBody>
      </p:sp>
      <p:pic>
        <p:nvPicPr>
          <p:cNvPr id="5" name="Picture 4" descr="creditz_workflow_diagram_17886827305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CREDITZ PROTOTYPE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Deterministic Rules Engine &amp; Verification Mechanics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841248"/>
          </a:xfrm>
          <a:prstGeom prst="roundRect">
            <a:avLst/>
          </a:prstGeom>
          <a:solidFill>
            <a:srgbClr val="111E44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Semester Credit Ceiling</a:t>
            </a:r>
          </a:p>
          <a:p>
            <a:pPr>
              <a:spcBef>
                <a:spcPts val="200"/>
              </a:spcBef>
              <a:defRPr sz="1100">
                <a:solidFill>
                  <a:srgbClr val="B4C3DC"/>
                </a:solidFill>
              </a:defRPr>
            </a:pPr>
            <a:r>
              <a:t>Enforces a max 30 points per semester cap. Even if a student earns 60 points in semester 4, exactly 30 effective points count toward degree clearance, while the excess is recorded as capped.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10698480" cy="841248"/>
          </a:xfrm>
          <a:prstGeom prst="roundRect">
            <a:avLst/>
          </a:prstGeom>
          <a:solidFill>
            <a:srgbClr val="111E44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Category Domain Caps</a:t>
            </a:r>
          </a:p>
          <a:p>
            <a:pPr>
              <a:spcBef>
                <a:spcPts val="200"/>
              </a:spcBef>
              <a:defRPr sz="1100">
                <a:solidFill>
                  <a:srgbClr val="B4C3DC"/>
                </a:solidFill>
              </a:defRPr>
            </a:pPr>
            <a:r>
              <a:t>Guarantees a well-rounded student portfolio by capping specific categories (e.g. Max 50 pts in Online Certifications, Max 60 pts in Hackathons). Eliminates single-category credit farming.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698480" cy="841248"/>
          </a:xfrm>
          <a:prstGeom prst="roundRect">
            <a:avLst/>
          </a:prstGeom>
          <a:solidFill>
            <a:srgbClr val="111E44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AI Multi-Modal OCR</a:t>
            </a:r>
          </a:p>
          <a:p>
            <a:pPr>
              <a:spcBef>
                <a:spcPts val="200"/>
              </a:spcBef>
              <a:defRPr sz="1100">
                <a:solidFill>
                  <a:srgbClr val="B4C3DC"/>
                </a:solidFill>
              </a:defRPr>
            </a:pPr>
            <a:r>
              <a:t>Google Gemini 1.5 Flash Vision reads binary document buffers (PDF, PNG, JPG), extracting student name, course title, issuing organization, and completion date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34840"/>
            <a:ext cx="10698480" cy="841248"/>
          </a:xfrm>
          <a:prstGeom prst="roundRect">
            <a:avLst/>
          </a:prstGeom>
          <a:solidFill>
            <a:srgbClr val="111E44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Discrepancy Detection</a:t>
            </a:r>
          </a:p>
          <a:p>
            <a:pPr>
              <a:spcBef>
                <a:spcPts val="200"/>
              </a:spcBef>
              <a:defRPr sz="1100">
                <a:solidFill>
                  <a:srgbClr val="B4C3DC"/>
                </a:solidFill>
              </a:defRPr>
            </a:pPr>
            <a:r>
              <a:t>Compares Gemini's extracted text against the student's database profile. Flags mismatches in recipient names, out-of-bounds dates, and computes an Authenticity Score (0-100%).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59"/>
            <a:ext cx="10698480" cy="841248"/>
          </a:xfrm>
          <a:prstGeom prst="roundRect">
            <a:avLst/>
          </a:prstGeom>
          <a:solidFill>
            <a:srgbClr val="111E44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Deterministic Fallback</a:t>
            </a:r>
          </a:p>
          <a:p>
            <a:pPr>
              <a:spcBef>
                <a:spcPts val="200"/>
              </a:spcBef>
              <a:defRPr sz="1100">
                <a:solidFill>
                  <a:srgbClr val="B4C3DC"/>
                </a:solidFill>
              </a:defRPr>
            </a:pPr>
            <a:r>
              <a:t>If internet is offline or API keys are unavailable, Creditz automatically falls back to an internal smart vision heuristic, guaranteeing 100% platform availability during evaluations.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CREDITZ PROTOTYPE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Academic Literature Survey Summary (Clean Baseline)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841248"/>
          </a:xfrm>
          <a:prstGeom prst="roundRect">
            <a:avLst/>
          </a:prstGeom>
          <a:solidFill>
            <a:srgbClr val="111E4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Mishra et al. (2026, IEEE) — AI-Enhanced Blockchain-Based Certificate Verification</a:t>
            </a:r>
          </a:p>
          <a:p>
            <a:pPr>
              <a:spcBef>
                <a:spcPts val="200"/>
              </a:spcBef>
              <a:defRPr sz="1050">
                <a:solidFill>
                  <a:srgbClr val="B4C3DC"/>
                </a:solidFill>
              </a:defRPr>
            </a:pPr>
            <a:r>
              <a:t>Hybrid CNN-BiLSTM for visual and semantic certificate forgery detection with 98.3% accuracy.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10698480" cy="841248"/>
          </a:xfrm>
          <a:prstGeom prst="roundRect">
            <a:avLst/>
          </a:prstGeom>
          <a:solidFill>
            <a:srgbClr val="111E4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Nguyen et al. (2025, IEEE) — Knowledge Graph Framework for Course Recommendations</a:t>
            </a:r>
          </a:p>
          <a:p>
            <a:pPr>
              <a:spcBef>
                <a:spcPts val="200"/>
              </a:spcBef>
              <a:defRPr sz="1050">
                <a:solidFill>
                  <a:srgbClr val="B4C3DC"/>
                </a:solidFill>
              </a:defRPr>
            </a:pPr>
            <a:r>
              <a:t>Semantic representation of prerequisites, degree pathways, and institutional constraint enforcement.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698480" cy="841248"/>
          </a:xfrm>
          <a:prstGeom prst="roundRect">
            <a:avLst/>
          </a:prstGeom>
          <a:solidFill>
            <a:srgbClr val="111E4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Chen et al. (2018, IEEE) — DRLGENCERT: Automated Testing of Certificate Verification</a:t>
            </a:r>
          </a:p>
          <a:p>
            <a:pPr>
              <a:spcBef>
                <a:spcPts val="200"/>
              </a:spcBef>
              <a:defRPr sz="1050">
                <a:solidFill>
                  <a:srgbClr val="B4C3DC"/>
                </a:solidFill>
              </a:defRPr>
            </a:pPr>
            <a:r>
              <a:t>Reinforcement learning for certificate feature extraction and discrepancy detection.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34840"/>
            <a:ext cx="10698480" cy="841248"/>
          </a:xfrm>
          <a:prstGeom prst="roundRect">
            <a:avLst/>
          </a:prstGeom>
          <a:solidFill>
            <a:srgbClr val="111E4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Zhang et al. (2024, IEEE) — Temporal Point Process Model for Course Recommendations</a:t>
            </a:r>
          </a:p>
          <a:p>
            <a:pPr>
              <a:spcBef>
                <a:spcPts val="200"/>
              </a:spcBef>
              <a:defRPr sz="1050">
                <a:solidFill>
                  <a:srgbClr val="B4C3DC"/>
                </a:solidFill>
              </a:defRPr>
            </a:pPr>
            <a:r>
              <a:t>Captures learning motivation factors and temporal cycles across academic progression.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59"/>
            <a:ext cx="10698480" cy="841248"/>
          </a:xfrm>
          <a:prstGeom prst="roundRect">
            <a:avLst/>
          </a:prstGeom>
          <a:solidFill>
            <a:srgbClr val="111E4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Edge et al. (2024, Microsoft) — From Local to Global: Graph RAG Summarization</a:t>
            </a:r>
          </a:p>
          <a:p>
            <a:pPr>
              <a:spcBef>
                <a:spcPts val="200"/>
              </a:spcBef>
              <a:defRPr sz="1050">
                <a:solidFill>
                  <a:srgbClr val="B4C3DC"/>
                </a:solidFill>
              </a:defRPr>
            </a:pPr>
            <a:r>
              <a:t>Foundational study demonstrating how graph-grounded evidence eliminates LLM hallucinations.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CREDITZ PROTOTYPE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Role 1: Student Dashboard &amp; Clearance Progress</a:t>
            </a:r>
          </a:p>
        </p:txBody>
      </p:sp>
      <p:pic>
        <p:nvPicPr>
          <p:cNvPr id="5" name="Picture 4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498079" cy="4754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03920" y="1463040"/>
            <a:ext cx="2926080" cy="4754880"/>
          </a:xfrm>
          <a:prstGeom prst="roundRect">
            <a:avLst/>
          </a:prstGeom>
          <a:solidFill>
            <a:srgbClr val="111E44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STUDENT CAPABILITIES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200-Point Clearance Meter: Live visualization of completed vs remaining points required to graduate.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Semester Credit Status: 8-semester interactive grid checking adherence to the 30 pts/sem ceiling.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Easy Certificate Submission: Drag-and-drop modal with live delivery status tracking.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Campus Clubs: Browse and register for college technical and cultural chapters (IEEE, NSS, etc.).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Academic SGPA: Track CIE exam marks and semester SGPA alongside activity points.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CREDITZ PROTOTYPE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Role 2: Faculty Mentor Verification Console</a:t>
            </a:r>
          </a:p>
        </p:txBody>
      </p:sp>
      <p:pic>
        <p:nvPicPr>
          <p:cNvPr id="5" name="Picture 4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498079" cy="4754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03920" y="1463040"/>
            <a:ext cx="2926080" cy="4754880"/>
          </a:xfrm>
          <a:prstGeom prst="roundRect">
            <a:avLst/>
          </a:prstGeom>
          <a:solidFill>
            <a:srgbClr val="111E4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MENTOR CAPABILITIES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Assigned Mentee List: Monitor student degree clearance progress (Cleared, Near Completion, At Risk).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Submission Review Queue: Direct inbox of pending certificate submissions awaiting faculty signature.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Side-by-Side Proof Viewer: Inspect original document proof alongside AI Authenticity Badges.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1-Click Approvals: Instantly award verified credit points or return submissions with mentor feedback.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Mentee Academic Marks: Review mentee semester marks and internal scores for holistic mentoring.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CREDITZ PROTOTYPE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Role 3: Head of Department (HOD) Governance</a:t>
            </a:r>
          </a:p>
        </p:txBody>
      </p:sp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498079" cy="4754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03920" y="1463040"/>
            <a:ext cx="2926080" cy="4754880"/>
          </a:xfrm>
          <a:prstGeom prst="roundRect">
            <a:avLst/>
          </a:prstGeom>
          <a:solidFill>
            <a:srgbClr val="111E44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ADE80"/>
                </a:solidFill>
              </a:defRPr>
            </a:pPr>
            <a:r>
              <a:t>HOD CAPABILITIES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Clearance Analytics: Live department overview of total students, average points, and completion rate.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Faculty Mentors Summary: Monitor advisory workloads and pending review queues across faculty.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Category Point Distribution: Visualize aggregate points awarded across technical, cultural, and sports domains.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Schema Cap Manager: Adjust category domain caps dynamically in response to institutional policies.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Accreditation Export: One-click CSV roster download for NAAC/NBA compliance audits.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CREDITZ PROTOTYPE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Technology Stack &amp; Engineering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051560"/>
          </a:xfrm>
          <a:prstGeom prst="roundRect">
            <a:avLst/>
          </a:prstGeom>
          <a:solidFill>
            <a:srgbClr val="111E44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Frontend (Single Page App)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Stack: React 19, TypeScript, Tailwind CSS v4, Lucide Icons, Framer Motion</a:t>
            </a:r>
          </a:p>
          <a:p>
            <a:pPr>
              <a:spcBef>
                <a:spcPts val="200"/>
              </a:spcBef>
              <a:defRPr sz="1050">
                <a:solidFill>
                  <a:srgbClr val="B4C3DC"/>
                </a:solidFill>
              </a:defRPr>
            </a:pPr>
            <a:r>
              <a:t>Delivers responsive single-page dashboards, interactive modals, and high-contrast dark/light presentation.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1051560"/>
          </a:xfrm>
          <a:prstGeom prst="roundRect">
            <a:avLst/>
          </a:prstGeom>
          <a:solidFill>
            <a:srgbClr val="111E44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Backend &amp; Server Runtime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Stack: Node.js 20/22, Express REST API, JWT Authentication, Multer</a:t>
            </a:r>
          </a:p>
          <a:p>
            <a:pPr>
              <a:spcBef>
                <a:spcPts val="200"/>
              </a:spcBef>
              <a:defRPr sz="1050">
                <a:solidFill>
                  <a:srgbClr val="B4C3DC"/>
                </a:solidFill>
              </a:defRPr>
            </a:pPr>
            <a:r>
              <a:t>Coordinates role-based routing, binary file uploads, and deterministic credit calculation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111E44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AI &amp; Multimodal OCR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Stack: Google Gemini 1.5 Flash Vision via official @google/genai SDK</a:t>
            </a:r>
          </a:p>
          <a:p>
            <a:pPr>
              <a:spcBef>
                <a:spcPts val="200"/>
              </a:spcBef>
              <a:defRPr sz="1050">
                <a:solidFill>
                  <a:srgbClr val="B4C3DC"/>
                </a:solidFill>
              </a:defRPr>
            </a:pPr>
            <a:r>
              <a:t>High-speed document understanding model performing automated certificate OCR and fraud 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698480" cy="1051560"/>
          </a:xfrm>
          <a:prstGeom prst="roundRect">
            <a:avLst/>
          </a:prstGeom>
          <a:solidFill>
            <a:srgbClr val="111E44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Persistence &amp; Storage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Stack: SQLite (better-sqlite3) with Write-Ahead Logging (WAL) Mode</a:t>
            </a:r>
          </a:p>
          <a:p>
            <a:pPr>
              <a:spcBef>
                <a:spcPts val="200"/>
              </a:spcBef>
              <a:defRPr sz="1050">
                <a:solidFill>
                  <a:srgbClr val="B4C3DC"/>
                </a:solidFill>
              </a:defRPr>
            </a:pPr>
            <a:r>
              <a:t>ACID-compliant relational persistence ensuring zero transactional corruption with 1-command startup.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CREDITZ PROTOTYPE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2194560"/>
          </a:xfrm>
          <a:prstGeom prst="roundRect">
            <a:avLst/>
          </a:prstGeom>
          <a:solidFill>
            <a:srgbClr val="111E4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D4BF"/>
                </a:solidFill>
              </a:defRPr>
            </a:pPr>
            <a:r>
              <a:t>Key Achievements of Creditz Prototype v2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✓ Successfully replaced manual paper logbooks with an automated, role-based digital activity portal.</a:t>
            </a:r>
            <a:br/>
            <a:r>
              <a:t>✓ Eliminated certificate fraud using Google Gemini 1.5 Flash Vision OCR.</a:t>
            </a:r>
            <a:br/>
            <a:r>
              <a:t>✓ Enforced university continuous development policies (30 pts/sem cap) deterministically.</a:t>
            </a:r>
            <a:br/>
            <a:r>
              <a:t>✓ Empowered faculty and HODs with real-time clearance visibility and 1-click approvals.</a:t>
            </a:r>
            <a:br/>
            <a:r>
              <a:t>✓ Zero-friction deployment with single-command local execution and offline fallback resilience.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39"/>
            <a:ext cx="10698480" cy="2194560"/>
          </a:xfrm>
          <a:prstGeom prst="roundRect">
            <a:avLst/>
          </a:prstGeom>
          <a:solidFill>
            <a:srgbClr val="111E4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D4BF"/>
                </a:solidFill>
              </a:defRPr>
            </a:pPr>
            <a:r>
              <a:t>Future Scope &amp; Enhancements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National DigiLocker Integration for instant automated certificate fetching.</a:t>
            </a:r>
            <a:br/>
            <a:r>
              <a:t>• Blockchain Credential Anchoring for tamper-proof post-graduation degree verification.</a:t>
            </a:r>
            <a:br/>
            <a:r>
              <a:t>• Mobile Native Progressive Web App (PWA) with push notifications for event registrations.</a:t>
            </a:r>
            <a:br/>
            <a:r>
              <a:t>• Cross-Institutional Activity Points Portability across universities.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645920"/>
            <a:ext cx="8534095" cy="3657600"/>
          </a:xfrm>
          <a:prstGeom prst="roundRect">
            <a:avLst/>
          </a:prstGeom>
          <a:solidFill>
            <a:srgbClr val="111E4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38BDF8"/>
                </a:solidFill>
              </a:defRPr>
            </a:pPr>
            <a:r>
              <a:t>Thank You!</a:t>
            </a:r>
          </a:p>
          <a:p>
            <a:pPr algn="ctr">
              <a:spcBef>
                <a:spcPts val="1400"/>
              </a:spcBef>
              <a:defRPr sz="2000" b="1">
                <a:solidFill>
                  <a:srgbClr val="FFFFFF"/>
                </a:solidFill>
              </a:defRPr>
            </a:pPr>
            <a:r>
              <a:t>Creditz (Prototype v2)</a:t>
            </a:r>
          </a:p>
          <a:p>
            <a:pPr algn="ctr">
              <a:spcBef>
                <a:spcPts val="800"/>
              </a:spcBef>
              <a:defRPr sz="1500">
                <a:solidFill>
                  <a:srgbClr val="2DD4BF"/>
                </a:solidFill>
              </a:defRPr>
            </a:pPr>
            <a:r>
              <a:t>Open for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