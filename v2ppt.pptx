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4057D4-0DEA-4AB8-8FDD-886484EAFF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318FF6-D358-453B-94A0-5C7822BCDD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056D5F-16F0-47B0-AE92-934C485A67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8939B1-66B4-4199-9DDD-C8AE518753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90B09E-1143-4C96-BE49-4C4E5BF722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A83708-22EC-4655-8A48-89C7729A7C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4B7014-6E02-48F7-8F72-D99A7FA902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AC14D4-FB2F-4868-80FD-352253999A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B21967-966C-4560-AF84-C523324BEF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84A998-56DF-4252-B654-1C4269700C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C98102-951A-4A92-83F6-BC232BFA33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D400A8-C223-4A85-A796-96722D2D0A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45225E-A1F3-4E3A-8381-EBE7E0630B9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914400" y="1097280"/>
            <a:ext cx="1033200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38bdf8"/>
                </a:solidFill>
                <a:latin typeface="Calibri"/>
                <a:ea typeface="DejaVu Sans"/>
              </a:rPr>
              <a:t>CREDITZ (Prototype v2)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An Intelligent Co-Curricular Activity Credit Management &amp; Verification System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300" spc="-1" strike="noStrike">
                <a:solidFill>
                  <a:srgbClr val="b4c3dc"/>
                </a:solidFill>
                <a:latin typeface="Calibri"/>
                <a:ea typeface="DejaVu Sans"/>
              </a:rPr>
              <a:t>Automating AICTE 200 Activity Points Lifecycle with Multimodal AI Vision &amp; Deterministic Rules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3" name="Rounded Rectangle 3"/>
          <p:cNvSpPr/>
          <p:nvPr/>
        </p:nvSpPr>
        <p:spPr>
          <a:xfrm>
            <a:off x="914400" y="3474720"/>
            <a:ext cx="10362240" cy="246816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PROJECT TEAM (Department of Computer Science &amp; Engineering)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Sharan P Shetty (NNM23CS176)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Sampath Kumar (NNM23CS167)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Ronak Shetty (NNM23CS157)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Gaurish Bangera (NNM23CS078)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n-US" sz="1100" spc="-1" strike="noStrike">
                <a:solidFill>
                  <a:srgbClr val="38bdf8"/>
                </a:solidFill>
                <a:latin typeface="Calibri"/>
                <a:ea typeface="DejaVu Sans"/>
              </a:rPr>
              <a:t>NMAM Institute of Technology, Nitte (Deemed to be University) • Academic Year 2025-2026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The Challenge: Manual Verification vs. Creditz Automation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Rounded Rectangle 4"/>
          <p:cNvSpPr/>
          <p:nvPr/>
        </p:nvSpPr>
        <p:spPr>
          <a:xfrm>
            <a:off x="731520" y="1554480"/>
            <a:ext cx="5119920" cy="475416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87171"/>
                </a:solidFill>
                <a:latin typeface="Calibri"/>
                <a:ea typeface="DejaVu Sans"/>
              </a:rPr>
              <a:t>THE PROBLEM (Current Legacy Process)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Manual Verification Overhead: Faculty mentors spend weeks manually checking paper certificates and spreadsheets.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Certificate Fraud &amp; Tampering: Zero automated validation for forged certificates, fake issuers, or borrowed credentials.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Final-Year Credit Dumping: Students submit all 200 points in semester 7/8, defeating the goal of continuous development.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No Institutional Visibility: HODs have no real-time metrics on degree clearance risks until final graduation audits.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150" spc="-1" strike="noStrike">
                <a:solidFill>
                  <a:srgbClr val="b4c3dc"/>
                </a:solidFill>
                <a:latin typeface="Calibri"/>
                <a:ea typeface="DejaVu Sans"/>
              </a:rPr>
              <a:t>Evaluation Latency: Students wait months to know if their activity claims were accepted or rejected.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8" name="Rounded Rectangle 5"/>
          <p:cNvSpPr/>
          <p:nvPr/>
        </p:nvSpPr>
        <p:spPr>
          <a:xfrm>
            <a:off x="6309360" y="1554480"/>
            <a:ext cx="5119920" cy="475416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4ade80"/>
                </a:solidFill>
                <a:latin typeface="Calibri"/>
                <a:ea typeface="DejaVu Sans"/>
              </a:rPr>
              <a:t>THE CREDITZ SOLUTION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✓ 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Automated Multimodal OCR: Google Gemini 1.5 Flash Vision automatically extracts certificate details in seconds.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✓ 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AI Discrepancy &amp; Fraud Check: Real-time validation flags name mismatches, altered dates, and suspicious templates.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✓ 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Strict 30 Pts/Semester Ceilings: Computational enforcement ensures continuous participation across all 8 semesters.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✓ 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Executive Governance Console: Live HOD analytics monitor clearance rates, domain caps, and faculty workloads.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✓ 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1-Click Verification Workflows: Mentors review side-by-side certificate proofs and AI audit badges instantly.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Project Objectives &amp; Scope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52" name="Rounded Rectangle 4"/>
          <p:cNvSpPr/>
          <p:nvPr/>
        </p:nvSpPr>
        <p:spPr>
          <a:xfrm>
            <a:off x="731520" y="155448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1. Multi-Role Institutional Architecture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Implement strict Role-Based Access Control (RBAC) connecting Students, Faculty Mentors, and HODs in a unified single-page platform.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" name="Rounded Rectangle 5"/>
          <p:cNvSpPr/>
          <p:nvPr/>
        </p:nvSpPr>
        <p:spPr>
          <a:xfrm>
            <a:off x="731520" y="251460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2. Automated Certificate Fraud Detection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Integrate Google Gemini 1.5 Flash Vision to inspect student certificate proofs (PDF, PNG, JPG), extracting metadata and computing authenticity confidence scores.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731520" y="347472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3. Deterministic Credit Ceiling Enforcement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Compute raw vs. effective points using an arithmetic rules engine enforcing a 30-point semester ceiling and university category domain caps.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" name="Rounded Rectangle 7"/>
          <p:cNvSpPr/>
          <p:nvPr/>
        </p:nvSpPr>
        <p:spPr>
          <a:xfrm>
            <a:off x="731520" y="443484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4. Transparent Side-by-Side Evaluation Queue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Provide faculty mentors with an interactive inspection console showing original certificate proofs alongside automated AI discrepancy flags.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Rounded Rectangle 8"/>
          <p:cNvSpPr/>
          <p:nvPr/>
        </p:nvSpPr>
        <p:spPr>
          <a:xfrm>
            <a:off x="731520" y="539496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5. Institutional Governance &amp; Compliance Reporting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Deliver aggregate department-wide clearance metrics, student-mentor allocations, and one-click accreditation CSV audit rosters.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System Architecture: 3-Tier Layered Design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60" name="Picture 4" descr="creditz_system_architecture_1788682687606.jpg"/>
          <p:cNvPicPr/>
          <p:nvPr/>
        </p:nvPicPr>
        <p:blipFill>
          <a:blip r:embed="rId1"/>
          <a:stretch/>
        </p:blipFill>
        <p:spPr>
          <a:xfrm>
            <a:off x="731520" y="1463040"/>
            <a:ext cx="7131600" cy="4388400"/>
          </a:xfrm>
          <a:prstGeom prst="rect">
            <a:avLst/>
          </a:prstGeom>
          <a:ln w="0">
            <a:noFill/>
          </a:ln>
        </p:spPr>
      </p:pic>
      <p:sp>
        <p:nvSpPr>
          <p:cNvPr id="61" name="Rounded Rectangle 5"/>
          <p:cNvSpPr/>
          <p:nvPr/>
        </p:nvSpPr>
        <p:spPr>
          <a:xfrm>
            <a:off x="8046720" y="1463040"/>
            <a:ext cx="3382560" cy="49370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ARCHITECTURE HIGHLIGHTS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Presentation Layer: React 19 SPA with TypeScript, Tailwind CSS v4, and Lucide icons.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Application Backend: Node.js Express REST API server coordinating authentication, file storage, and points rules.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Deterministic Engine: Independent mathematical module enforcing 30 pts/sem and category limits.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AI Vision Engine: Google Gemini 1.5 Flash Vision Multimodal OCR with offline smart heuristic fallback.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Persistence: SQLite database running in high-performance Write-Ahead Logging (WAL) mode.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Database Schema &amp; Entity-Relationship (ER) Model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65" name="Picture 4" descr="creditz_er_diagram_1788682707282.jpg"/>
          <p:cNvPicPr/>
          <p:nvPr/>
        </p:nvPicPr>
        <p:blipFill>
          <a:blip r:embed="rId1"/>
          <a:stretch/>
        </p:blipFill>
        <p:spPr>
          <a:xfrm>
            <a:off x="731520" y="1463040"/>
            <a:ext cx="7131600" cy="4388400"/>
          </a:xfrm>
          <a:prstGeom prst="rect">
            <a:avLst/>
          </a:prstGeom>
          <a:ln w="0">
            <a:noFill/>
          </a:ln>
        </p:spPr>
      </p:pic>
      <p:sp>
        <p:nvSpPr>
          <p:cNvPr id="66" name="Rounded Rectangle 5"/>
          <p:cNvSpPr/>
          <p:nvPr/>
        </p:nvSpPr>
        <p:spPr>
          <a:xfrm>
            <a:off x="8046720" y="1463040"/>
            <a:ext cx="3382560" cy="49370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2dd4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KEY RELATIONAL ENTITIES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Users: Central entity managing Student, Mentor, and HOD roles with department foreign keys.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Submissions: Holds student proof uploads, claimed points, status (pending/approved/rejected), and AI audit JSON.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Activity_Schema: Institutional catalog of activities, base points, criteria, and version tracking.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Schema_Categories: Governs domain credit caps (max 50 pts online, max 60 pts hackathons).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Student_Marks: Semester-wise CIE exam marks, lab scores, and SGPA calculations.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End-to-End Operational Lifecycle &amp; Verification Flow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70" name="Picture 4" descr="creditz_workflow_diagram_1788682730510.jpg"/>
          <p:cNvPicPr/>
          <p:nvPr/>
        </p:nvPicPr>
        <p:blipFill>
          <a:blip r:embed="rId1"/>
          <a:stretch/>
        </p:blipFill>
        <p:spPr>
          <a:xfrm>
            <a:off x="731520" y="1463040"/>
            <a:ext cx="10697760" cy="48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Deterministic Rules Engine &amp; Verification Mechanics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731520" y="155448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Semester Credit Ceiling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Enforces a max 30 points per semester cap. Even if a student earns 60 points in semester 4, exactly 30 effective points count toward degree clearance, while the excess is recorded as capped.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731520" y="251460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Category Domain Caps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Guarantees a well-rounded student portfolio by capping specific categories (e.g. Max 50 pts in Online Certifications, Max 60 pts in Hackathons). Eliminates single-category credit farming.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731520" y="347472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AI Multi-Modal OCR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Google Gemini 1.5 Flash Vision reads binary document buffers (PDF, PNG, JPG), extracting student name, course title, issuing organization, and completion date automatically.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Rounded Rectangle 7"/>
          <p:cNvSpPr/>
          <p:nvPr/>
        </p:nvSpPr>
        <p:spPr>
          <a:xfrm>
            <a:off x="731520" y="443484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Discrepancy Detection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Compares Gemini's extracted text against the student's database profile. Flags mismatches in recipient names, out-of-bounds dates, and computes an Authenticity Score (0-100%).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8" name="Rounded Rectangle 8"/>
          <p:cNvSpPr/>
          <p:nvPr/>
        </p:nvSpPr>
        <p:spPr>
          <a:xfrm>
            <a:off x="731520" y="539496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Deterministic Fallback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100" spc="-1" strike="noStrike">
                <a:solidFill>
                  <a:srgbClr val="b4c3dc"/>
                </a:solidFill>
                <a:latin typeface="Calibri"/>
                <a:ea typeface="DejaVu Sans"/>
              </a:rPr>
              <a:t>If internet is offline or API keys are unavailable, Creditz automatically falls back to an internal smart vision heuristic, guaranteeing 100% platform availability during evaluations.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Academic Literature Survey Summary (Clean Baseline)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" name="Rounded Rectangle 4"/>
          <p:cNvSpPr/>
          <p:nvPr/>
        </p:nvSpPr>
        <p:spPr>
          <a:xfrm>
            <a:off x="731520" y="155448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Mishra et al. (2026, IEEE) — AI-Enhanced Blockchain-Based Certificate Verification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Hybrid CNN-BiLSTM for visual and semantic certificate forgery detection with 98.3% accuracy.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731520" y="251460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Nguyen et al. (2025, IEEE) — Knowledge Graph Framework for Course Recommendations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Semantic representation of prerequisites, degree pathways, and institutional constraint enforcement.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731520" y="347472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Chen et al. (2018, IEEE) — DRLGENCERT: Automated Testing of Certificate Verification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Reinforcement learning for certificate feature extraction and discrepancy detection.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731520" y="443484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Zhang et al. (2024, IEEE) — Temporal Point Process Model for Course Recommendations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Captures learning motivation factors and temporal cycles across academic progression.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6" name="Rounded Rectangle 8"/>
          <p:cNvSpPr/>
          <p:nvPr/>
        </p:nvSpPr>
        <p:spPr>
          <a:xfrm>
            <a:off x="731520" y="5394960"/>
            <a:ext cx="10697760" cy="84060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Edge et al. (2024, Microsoft) — From Local to Global: Graph RAG Summarization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Foundational study demonstrating how graph-grounded evidence eliminates LLM hallucinations.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Role 1: Student Dashboard &amp; Clearance Progress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90" name="Picture 4" descr="image4.png"/>
          <p:cNvPicPr/>
          <p:nvPr/>
        </p:nvPicPr>
        <p:blipFill>
          <a:blip r:embed="rId1"/>
          <a:stretch/>
        </p:blipFill>
        <p:spPr>
          <a:xfrm>
            <a:off x="731520" y="1463040"/>
            <a:ext cx="7497360" cy="4754160"/>
          </a:xfrm>
          <a:prstGeom prst="rect">
            <a:avLst/>
          </a:prstGeom>
          <a:ln w="0">
            <a:noFill/>
          </a:ln>
        </p:spPr>
      </p:pic>
      <p:sp>
        <p:nvSpPr>
          <p:cNvPr id="91" name="Rounded Rectangle 5"/>
          <p:cNvSpPr/>
          <p:nvPr/>
        </p:nvSpPr>
        <p:spPr>
          <a:xfrm>
            <a:off x="8503920" y="1463040"/>
            <a:ext cx="2925360" cy="475416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2dd4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STUDENT CAPABILITIES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200-Point Clearance Meter: Live visualization of completed vs remaining points required to graduate.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Semester Credit Status: 8-semester interactive grid checking adherence to the 30 pts/sem ceiling.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Easy Certificate Submission: Drag-and-drop modal with live delivery status tracking.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Campus Clubs: Browse and register for college technical and cultural chapters (IEEE, NSS, etc.).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Academic SGPA: Track CIE exam marks and semester SGPA alongside activity points.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Role 2: Faculty Mentor Verification Console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95" name="Picture 4" descr="image5.png"/>
          <p:cNvPicPr/>
          <p:nvPr/>
        </p:nvPicPr>
        <p:blipFill>
          <a:blip r:embed="rId1"/>
          <a:stretch/>
        </p:blipFill>
        <p:spPr>
          <a:xfrm>
            <a:off x="731520" y="1463040"/>
            <a:ext cx="7497360" cy="4754160"/>
          </a:xfrm>
          <a:prstGeom prst="rect">
            <a:avLst/>
          </a:prstGeom>
          <a:ln w="0">
            <a:noFill/>
          </a:ln>
        </p:spPr>
      </p:pic>
      <p:sp>
        <p:nvSpPr>
          <p:cNvPr id="96" name="Rounded Rectangle 5"/>
          <p:cNvSpPr/>
          <p:nvPr/>
        </p:nvSpPr>
        <p:spPr>
          <a:xfrm>
            <a:off x="8503920" y="1463040"/>
            <a:ext cx="2925360" cy="475416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MENTOR CAPABILITIES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Assigned Mentee List: Monitor student degree clearance progress (Cleared, Near Completion, At Risk).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Submission Review Queue: Direct inbox of pending certificate submissions awaiting faculty signature.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Side-by-Side Proof Viewer: Inspect original document proof alongside AI Authenticity Badges.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1-Click Approvals: Instantly award verified credit points or return submissions with mentor feedback.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Mentee Academic Marks: Review mentee semester marks and internal scores for holistic mentoring.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Role 3: Head of Department (HOD) Governance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100" name="Picture 4" descr="image6.png"/>
          <p:cNvPicPr/>
          <p:nvPr/>
        </p:nvPicPr>
        <p:blipFill>
          <a:blip r:embed="rId1"/>
          <a:stretch/>
        </p:blipFill>
        <p:spPr>
          <a:xfrm>
            <a:off x="731520" y="1463040"/>
            <a:ext cx="7497360" cy="4754160"/>
          </a:xfrm>
          <a:prstGeom prst="rect">
            <a:avLst/>
          </a:prstGeom>
          <a:ln w="0">
            <a:noFill/>
          </a:ln>
        </p:spPr>
      </p:pic>
      <p:sp>
        <p:nvSpPr>
          <p:cNvPr id="101" name="Rounded Rectangle 5"/>
          <p:cNvSpPr/>
          <p:nvPr/>
        </p:nvSpPr>
        <p:spPr>
          <a:xfrm>
            <a:off x="8503920" y="1463040"/>
            <a:ext cx="2925360" cy="475416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4ade80"/>
                </a:solidFill>
                <a:latin typeface="Calibri"/>
                <a:ea typeface="DejaVu Sans"/>
              </a:rPr>
              <a:t>HOD CAPABILITIES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Clearance Analytics: Live department overview of total students, average points, and completion rate.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Faculty Mentors Summary: Monitor advisory workloads and pending review queues across faculty.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Category Point Distribution: Visualize aggregate points awarded across technical, cultural, and sports domains.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Schema Cap Manager: Adjust category domain caps dynamically in response to institutional policies.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Accreditation Export: One-click CSV roster download for NAAC/NBA compliance audits.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Technology Stack &amp; Engineering Highlights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731520" y="1554480"/>
            <a:ext cx="10697760" cy="10508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Frontend (Single Page App)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Stack: React 19, TypeScript, Tailwind CSS v4, Lucide Icons, Framer Motion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Delivers responsive single-page dashboards, interactive modals, and high-contrast dark/light presentation.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731520" y="2743200"/>
            <a:ext cx="10697760" cy="10508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Backend &amp; Server Runtime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Stack: Node.js 20/22, Express REST API, JWT Authentication, Multer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Coordinates role-based routing, binary file uploads, and deterministic credit calculation rules.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731520" y="3931920"/>
            <a:ext cx="10697760" cy="10508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AI &amp; Multimodal OCR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Stack: Google Gemini 1.5 Flash Vision via official @google/genai SDK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High-speed document understanding model performing automated certificate OCR and fraud checks.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731520" y="5120640"/>
            <a:ext cx="10697760" cy="10508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  <a:ea typeface="DejaVu Sans"/>
              </a:rPr>
              <a:t>Persistence &amp; Storage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Stack: SQLite (better-sqlite3) with Write-Ahead Logging (WAL) Mode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50" spc="-1" strike="noStrike">
                <a:solidFill>
                  <a:srgbClr val="b4c3dc"/>
                </a:solidFill>
                <a:latin typeface="Calibri"/>
                <a:ea typeface="DejaVu Sans"/>
              </a:rPr>
              <a:t>ACID-compliant relational persistence ensuring zero transactional corruption with 1-command startup.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2"/>
          <p:cNvSpPr/>
          <p:nvPr/>
        </p:nvSpPr>
        <p:spPr>
          <a:xfrm>
            <a:off x="731520" y="365760"/>
            <a:ext cx="10697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dd4bf"/>
                </a:solidFill>
                <a:latin typeface="Calibri"/>
                <a:ea typeface="DejaVu Sans"/>
              </a:rPr>
              <a:t>CREDITZ PROTOTYPE V2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Conclusion &amp; Future Roadmap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731520" y="1554480"/>
            <a:ext cx="10697760" cy="21938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dd4bf"/>
                </a:solidFill>
                <a:latin typeface="Calibri"/>
                <a:ea typeface="DejaVu Sans"/>
              </a:rPr>
              <a:t>Key Achievements of Creditz Prototype v2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✓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Successfully replaced manual paper logbooks with an automated, role-based digital activity portal.</a:t>
            </a: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✓ Eliminated certificate fraud using Google Gemini 1.5 Flash Vision OCR.</a:t>
            </a: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✓ Enforced university continuous development policies (30 pts/sem cap) deterministically.</a:t>
            </a: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✓ Empowered faculty and HODs with real-time clearance visibility and 1-click approvals.</a:t>
            </a: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✓ Zero-friction deployment with single-command local execution and offline fallback resilience.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731520" y="3977640"/>
            <a:ext cx="10697760" cy="219384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dd4bf"/>
                </a:solidFill>
                <a:latin typeface="Calibri"/>
                <a:ea typeface="DejaVu Sans"/>
              </a:rPr>
              <a:t>Future Scope &amp; Enhancements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Blockchain Credential Anchoring for tamper-proof post-graduation degree verification.</a:t>
            </a: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• Mobile Native Progressive Web App (PWA) with push notifications for event registrations.</a:t>
            </a: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• Cross-Institutional Activity Points Portability across universities.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Rounded Rectangle 2"/>
          <p:cNvSpPr/>
          <p:nvPr/>
        </p:nvSpPr>
        <p:spPr>
          <a:xfrm>
            <a:off x="1828800" y="1645920"/>
            <a:ext cx="8533440" cy="3656880"/>
          </a:xfrm>
          <a:prstGeom prst="roundRect">
            <a:avLst>
              <a:gd name="adj" fmla="val 16667"/>
            </a:avLst>
          </a:prstGeom>
          <a:solidFill>
            <a:srgbClr val="111e44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38bdf8"/>
                </a:solidFill>
                <a:latin typeface="Calibri"/>
                <a:ea typeface="DejaVu Sans"/>
              </a:rPr>
              <a:t>Thank You!</a:t>
            </a:r>
            <a:endParaRPr b="0" lang="en-IN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Creditz (Prototype v2)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2dd4bf"/>
                </a:solidFill>
                <a:latin typeface="Calibri"/>
                <a:ea typeface="DejaVu Sans"/>
              </a:rPr>
              <a:t>Open for Questions &amp; Discussion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2026-09-08T10:34:03Z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