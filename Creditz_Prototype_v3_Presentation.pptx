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10.png" ContentType="image/png"/>
  <Override PartName="/ppt/media/image2.jpeg" ContentType="image/jpeg"/>
  <Override PartName="/ppt/media/image3.jpeg" ContentType="image/jpeg"/>
  <Override PartName="/ppt/media/image4.jpeg" ContentType="image/jpe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EDA580-B15D-41DA-8EAE-B63A64E73E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5F6B15-7FD9-466F-BF6B-A574549D48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F656B0-6996-4669-8BA2-C8FF4E20C4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D8AB8C-4C69-4C7D-9A3F-FC7531A8A8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B4C87-95D7-4AD2-A745-CD420D2205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4F0A05-6984-45D7-9FB9-E573406449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BAC522-6227-4E7D-8A44-C259DC1495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EA5A6-B80F-421B-8921-322DAED5DB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7193AC-DA05-43E7-AE24-79E06D92F7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60BC1C-3984-4817-8BAA-D54877B466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D68E62-10BC-4DBB-A849-5E1DE916BCC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9893DB-27BF-4D01-B3AA-9815E01D15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21BBC0-5545-4008-BFF1-5D190BB1845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ounded Rectangle 2"/>
          <p:cNvSpPr/>
          <p:nvPr/>
        </p:nvSpPr>
        <p:spPr>
          <a:xfrm>
            <a:off x="800280" y="708840"/>
            <a:ext cx="10248480" cy="53946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Rounded Rectangle 3"/>
          <p:cNvSpPr/>
          <p:nvPr/>
        </p:nvSpPr>
        <p:spPr>
          <a:xfrm>
            <a:off x="1097280" y="1005840"/>
            <a:ext cx="2377080" cy="328680"/>
          </a:xfrm>
          <a:prstGeom prst="roundRect">
            <a:avLst>
              <a:gd name="adj" fmla="val 16667"/>
            </a:avLst>
          </a:prstGeom>
          <a:solidFill>
            <a:srgbClr val="312e81"/>
          </a:solidFill>
          <a:ln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MAJOR PROJECT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1097280" y="1417320"/>
            <a:ext cx="9522720" cy="270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CREDITZ</a:t>
            </a:r>
            <a:endParaRPr b="0" lang="en-IN" sz="4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600" spc="-1" strike="noStrike">
                <a:solidFill>
                  <a:srgbClr val="38bdf8"/>
                </a:solidFill>
                <a:latin typeface="Calibri"/>
              </a:rPr>
              <a:t>AICTE 200 Activity Points &amp; Degree Clearance System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An intelligent institutional platform streamlining co-curricular credit tracking, multimodal AI certificate verification, deterministic policy ceilings, and official NAAC/NBA accreditation clearance transcripts.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✨ </a:t>
            </a: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Version 3.0 Refactor Highlights: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1-Click Institutional PDF Credit Report (A4 Certified)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Faculty Mentor Visual Analytics (Category Donut &amp; Velocity)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Bell Icon Real-time Meeting &amp; Advisory Notice Space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• Minimalized, Non-IT Friendly Academic Vocabulary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097280" y="4663440"/>
            <a:ext cx="4754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bbf24"/>
                </a:solidFill>
                <a:latin typeface="Calibri"/>
              </a:rPr>
              <a:t>DEPARTMENT OF COMPUTER SCIENCE &amp; ENGINEERING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Autonomous Institute of Technology &amp; Sciences | Evaluated for Major Project v3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Addressing Evaluation Panel Feedback: The Evolution to v3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9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Rounded Rectangle 5"/>
          <p:cNvSpPr/>
          <p:nvPr/>
        </p:nvSpPr>
        <p:spPr>
          <a:xfrm>
            <a:off x="731520" y="1554480"/>
            <a:ext cx="254160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6"/>
          <p:cNvSpPr/>
          <p:nvPr/>
        </p:nvSpPr>
        <p:spPr>
          <a:xfrm>
            <a:off x="868680" y="1691640"/>
            <a:ext cx="226728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ITEM 01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Panel Feedback: Technical Jargon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⚠️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Challenge:</a:t>
            </a:r>
            <a:br>
              <a:rPr sz="1050"/>
            </a:b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Panel noted v2 had developer-centric terminology (Merkle root, cryptographic audit, schema hash) confusing non-IT academic panelists.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─────────────────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✓ </a:t>
            </a: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V3 Resolution: Institutional Vocabulary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Completely converted to standard academic terms: 'Official PDF Transcript', 'Submissions', 'Digitally Verified ✓', and 'Point Rules &amp; Categories'.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2" name="Rounded Rectangle 7"/>
          <p:cNvSpPr/>
          <p:nvPr/>
        </p:nvSpPr>
        <p:spPr>
          <a:xfrm>
            <a:off x="3456360" y="1554480"/>
            <a:ext cx="254160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8"/>
          <p:cNvSpPr/>
          <p:nvPr/>
        </p:nvSpPr>
        <p:spPr>
          <a:xfrm>
            <a:off x="3593520" y="1691640"/>
            <a:ext cx="226728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34d399"/>
                </a:solidFill>
                <a:latin typeface="Calibri"/>
              </a:rPr>
              <a:t>ITEM 02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Panel Feedback: Dashboard Clutter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⚠️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Challenge:</a:t>
            </a:r>
            <a:br>
              <a:rPr sz="1050"/>
            </a:b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Student dashboard had 8 mini-cards, duplicated upcoming events, and nested scroll traps making the page hard to navigate.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─────────────────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✓ </a:t>
            </a: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V3 Resolution: Minimalized Current Focus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Unified 80% of screen to Current Semester focus card with clean expandable toggle, natural window scrolling, and unified Clubs/Events portal.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4" name="Rounded Rectangle 9"/>
          <p:cNvSpPr/>
          <p:nvPr/>
        </p:nvSpPr>
        <p:spPr>
          <a:xfrm>
            <a:off x="6181200" y="1554480"/>
            <a:ext cx="254160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TextBox 10"/>
          <p:cNvSpPr/>
          <p:nvPr/>
        </p:nvSpPr>
        <p:spPr>
          <a:xfrm>
            <a:off x="6318360" y="1691640"/>
            <a:ext cx="2267280" cy="29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818cf8"/>
                </a:solidFill>
                <a:latin typeface="Calibri"/>
              </a:rPr>
              <a:t>ITEM 03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Panel Feedback: Misplaced Visual Analytics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⚠️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Challenge:</a:t>
            </a:r>
            <a:br>
              <a:rPr sz="1050"/>
            </a:b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Complex velocity charts and donuts on student views caused confusion rather than providing clear clearance steps.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─────────────────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✓ </a:t>
            </a: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V3 Resolution: Mentor-Exclusive Visuals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Removed visual charts from students and isolated them into a dedicated Faculty Mentor Analytics Desk (Donut, Velocity vs 30-pt cap, Trajectory).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6" name="Rounded Rectangle 11"/>
          <p:cNvSpPr/>
          <p:nvPr/>
        </p:nvSpPr>
        <p:spPr>
          <a:xfrm>
            <a:off x="8906400" y="1554480"/>
            <a:ext cx="254160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TextBox 12"/>
          <p:cNvSpPr/>
          <p:nvPr/>
        </p:nvSpPr>
        <p:spPr>
          <a:xfrm>
            <a:off x="9043560" y="1691640"/>
            <a:ext cx="2267280" cy="29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bbf24"/>
                </a:solidFill>
                <a:latin typeface="Calibri"/>
              </a:rPr>
              <a:t>ITEM 04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Panel Feedback: Accreditation &amp; Communication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⚠️ </a:t>
            </a: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Challenge:</a:t>
            </a:r>
            <a:br>
              <a:rPr sz="1050"/>
            </a:b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No printable physical document for NAAC/NBA inspections and no channel for quick mentor-student meeting updates.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r>
              <a:rPr b="0" lang="en-US" sz="800" spc="-1" strike="noStrike">
                <a:solidFill>
                  <a:srgbClr val="334155"/>
                </a:solidFill>
                <a:latin typeface="Calibri"/>
              </a:rPr>
              <a:t>─────────────────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✓ </a:t>
            </a:r>
            <a:r>
              <a:rPr b="1" lang="en-US" sz="1200" spc="-1" strike="noStrike">
                <a:solidFill>
                  <a:srgbClr val="34d399"/>
                </a:solidFill>
                <a:latin typeface="Calibri"/>
              </a:rPr>
              <a:t>V3 Resolution: PDF Transcript + Bell Space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</a:rPr>
              <a:t>Engineered 1-click A4 Printable Transcript with QR verification hash and real-time Meeting Notice space in navbar Bell Icon.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Project Objectives &amp; Institutional Scope (Creditz v3)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1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Rounded Rectangle 5"/>
          <p:cNvSpPr/>
          <p:nvPr/>
        </p:nvSpPr>
        <p:spPr>
          <a:xfrm>
            <a:off x="731520" y="153612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6"/>
          <p:cNvSpPr/>
          <p:nvPr/>
        </p:nvSpPr>
        <p:spPr>
          <a:xfrm>
            <a:off x="914400" y="1609200"/>
            <a:ext cx="1036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[ROLE-BASED GOVERNANCE]   1. Multi-Role Institutional Architecture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Provide dedicated, tailored portals for Students, Faculty Mentors, and Head of Department (HOD) with strict Role-Based Access Control (RBAC) ensuring appropriate data privacy and workflow separation.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4" name="Rounded Rectangle 7"/>
          <p:cNvSpPr/>
          <p:nvPr/>
        </p:nvSpPr>
        <p:spPr>
          <a:xfrm>
            <a:off x="731520" y="252360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TextBox 8"/>
          <p:cNvSpPr/>
          <p:nvPr/>
        </p:nvSpPr>
        <p:spPr>
          <a:xfrm>
            <a:off x="914400" y="2597040"/>
            <a:ext cx="1036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818cf8"/>
                </a:solidFill>
                <a:latin typeface="Calibri"/>
              </a:rPr>
              <a:t>[MULTIMODAL AI OCR]   2. Intelligent Certificate Verification &amp; Discrepancy Checks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Automate certificate verification using Google Gemini 1.5 Flash Vision OCR to extract recipient name, issuing agency, course, and date, computing an Authenticity Score (0-100%) against student records.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6" name="Rounded Rectangle 9"/>
          <p:cNvSpPr/>
          <p:nvPr/>
        </p:nvSpPr>
        <p:spPr>
          <a:xfrm>
            <a:off x="731520" y="351144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914400" y="3584520"/>
            <a:ext cx="1036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[POLICY ENGINE]   3. Deterministic Credit Ceiling &amp; Domain Caps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Enforce AICTE continuous development rules mathematically: strict 30 points/semester ceiling (excess recorded as capped) and category maximums (e.g. MOOCs max 50 pts) to eliminate single-category credit farming.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8" name="Rounded Rectangle 11"/>
          <p:cNvSpPr/>
          <p:nvPr/>
        </p:nvSpPr>
        <p:spPr>
          <a:xfrm>
            <a:off x="731520" y="449892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12"/>
          <p:cNvSpPr/>
          <p:nvPr/>
        </p:nvSpPr>
        <p:spPr>
          <a:xfrm>
            <a:off x="914400" y="4572000"/>
            <a:ext cx="1036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</a:rPr>
              <a:t>[FACULTY ADVISORY]   4. Faculty Mentoring Desk &amp; Targeted Visual Analytics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Empower faculty mentors with side-by-side certificate inspection, 1-click approvals, and exclusive visual analytics (category balance donut, velocity threshold chart, 200-pt degree trajectory curve).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0" name="Rounded Rectangle 13"/>
          <p:cNvSpPr/>
          <p:nvPr/>
        </p:nvSpPr>
        <p:spPr>
          <a:xfrm>
            <a:off x="731520" y="548640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fb71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14"/>
          <p:cNvSpPr/>
          <p:nvPr/>
        </p:nvSpPr>
        <p:spPr>
          <a:xfrm>
            <a:off x="914400" y="5559480"/>
            <a:ext cx="1036260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b7185"/>
                </a:solidFill>
                <a:latin typeface="Calibri"/>
              </a:rPr>
              <a:t>[ACCREDITATION &amp; COMM]   5. Official PDF Accreditation Transcript &amp; Real-Time Sync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</a:rPr>
              <a:t>Deliver 1-click exportable A4 degree clearance transcripts with tamper-evident QR verification hashes and formal sign-offs for NAAC/NBA accreditation, plus real-time meeting notifications in the navbar bell icon.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System Architecture: 3-Tier Layered Design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5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Rounded Rectangle 5"/>
          <p:cNvSpPr/>
          <p:nvPr/>
        </p:nvSpPr>
        <p:spPr>
          <a:xfrm>
            <a:off x="731520" y="1554480"/>
            <a:ext cx="48459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6"/>
          <p:cNvSpPr/>
          <p:nvPr/>
        </p:nvSpPr>
        <p:spPr>
          <a:xfrm>
            <a:off x="914400" y="1691640"/>
            <a:ext cx="4480200" cy="32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ARCHITECTURE SPECIFICATIONS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Presentation Layer: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React 19 Single Page App with TypeScript, Tailwind CSS v4, Lucide icons, and window-level vertical scrolling with responsive desktop/mobile navigation drawers.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Application Backend: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Node.js Express REST API coordinating JWT authentication, Multer binary multipart uploads, real-time notification endpoints, and CORS security.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Deterministic Rules Engine: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Independent mathematical module strictly enforcing the 30 pts/semester continuous development ceiling and category-specific maximum caps.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AI Multimodal Vision Engine: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Google Gemini 1.5 Flash Vision via official SDK analyzing certificate buffers with smart deterministic heuristic fallback.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Persistence Layer: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Relational SQLite database with Write-Ahead Logging (WAL) mode ensuring ACID transactional integrity and zero setup friction.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8" name="Rounded Rectangle 7"/>
          <p:cNvSpPr/>
          <p:nvPr/>
        </p:nvSpPr>
        <p:spPr>
          <a:xfrm>
            <a:off x="5760720" y="1554480"/>
            <a:ext cx="56991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9" name="Picture 8" descr="architecture_diagram.jpg"/>
          <p:cNvPicPr/>
          <p:nvPr/>
        </p:nvPicPr>
        <p:blipFill>
          <a:blip r:embed="rId1"/>
          <a:stretch/>
        </p:blipFill>
        <p:spPr>
          <a:xfrm>
            <a:off x="5852160" y="1645920"/>
            <a:ext cx="55162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Relational Database Schema &amp; Entity-Relationship Model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ounded Rectangle 5"/>
          <p:cNvSpPr/>
          <p:nvPr/>
        </p:nvSpPr>
        <p:spPr>
          <a:xfrm>
            <a:off x="731520" y="1554480"/>
            <a:ext cx="48459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6"/>
          <p:cNvSpPr/>
          <p:nvPr/>
        </p:nvSpPr>
        <p:spPr>
          <a:xfrm>
            <a:off x="914400" y="1691640"/>
            <a:ext cx="4480200" cy="32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18cf8"/>
                </a:solidFill>
                <a:latin typeface="Calibri"/>
              </a:rPr>
              <a:t>CORE RELATIONAL ENTITIES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Users Entity: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Central identity management storing Student, Mentor, and HOD records with department FK, assigned mentor FK, USN roll number, CGPA, and semester.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Submissions Entity: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Tracks student certificate uploads, claimed category, file URL, status ('pending', 'approved', 'rejected'), awarded points, semester, and AI audit JSON.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Activity Schema &amp; Categories: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Institutional catalog of recognized activities, default points, verification criteria, and category domain maximum caps (e.g. max 60 pts technical certs).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Notifications Entity: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Stores real-time institutional notices, sender/recipient IDs, meeting times, venues, and read status for seamless HOD-Mentor-Student communication.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Student Marks Entity: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Stores semester-wise CIE internal exam scores, lab marks, and SGPA calculations for holistic mentor academic guidance.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6" name="Rounded Rectangle 7"/>
          <p:cNvSpPr/>
          <p:nvPr/>
        </p:nvSpPr>
        <p:spPr>
          <a:xfrm>
            <a:off x="5760720" y="1554480"/>
            <a:ext cx="56991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87" name="Picture 8" descr="database_er_diagram.jpg"/>
          <p:cNvPicPr/>
          <p:nvPr/>
        </p:nvPicPr>
        <p:blipFill>
          <a:blip r:embed="rId1"/>
          <a:stretch/>
        </p:blipFill>
        <p:spPr>
          <a:xfrm>
            <a:off x="5852160" y="1645920"/>
            <a:ext cx="55162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End-to-End Operational Lifecycle &amp; Verification Flow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1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Rounded Rectangle 5"/>
          <p:cNvSpPr/>
          <p:nvPr/>
        </p:nvSpPr>
        <p:spPr>
          <a:xfrm>
            <a:off x="731520" y="1554480"/>
            <a:ext cx="107283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93" name="Picture 6" descr="platform_lifecycle.jpg"/>
          <p:cNvPicPr/>
          <p:nvPr/>
        </p:nvPicPr>
        <p:blipFill>
          <a:blip r:embed="rId1"/>
          <a:stretch/>
        </p:blipFill>
        <p:spPr>
          <a:xfrm>
            <a:off x="822960" y="1645920"/>
            <a:ext cx="105454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Multimodal AI Vision Inspection &amp; Deterministic Rules Engine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Rounded Rectangle 5"/>
          <p:cNvSpPr/>
          <p:nvPr/>
        </p:nvSpPr>
        <p:spPr>
          <a:xfrm>
            <a:off x="731520" y="1554480"/>
            <a:ext cx="48459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6"/>
          <p:cNvSpPr/>
          <p:nvPr/>
        </p:nvSpPr>
        <p:spPr>
          <a:xfrm>
            <a:off x="914400" y="1691640"/>
            <a:ext cx="4480200" cy="32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VERIFICATION MECHANICS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Multimodal OCR Scanning: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Google Gemini 1.5 Flash Vision reads binary document buffers (PDF, PNG, JPG), extracting student name, course title, issuing body, and completion date.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Cross-Verification Discrepancy Check: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Compares extracted text against database profile to flag mismatched recipient names, invalid completion dates, or suspicious template patterns.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Authenticity Confidence Score: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Computes an automated authenticity metric (0-100%) and generates plain-English audit flags for mentor evaluation.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Deterministic Semester Ceiling: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Strictly caps counted activity credits to 30 points per semester. Excess credits are safely recorded as capped to mandate steady learning.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Offline Heuristic Fallback: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Internal smart vision heuristic ensures 100% platform uptime even when internet connection or external API tokens are unavailable.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0" name="Rounded Rectangle 7"/>
          <p:cNvSpPr/>
          <p:nvPr/>
        </p:nvSpPr>
        <p:spPr>
          <a:xfrm>
            <a:off x="5760720" y="1554480"/>
            <a:ext cx="56991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01" name="Picture 8" descr="ai_vision_ocr.jpg"/>
          <p:cNvPicPr/>
          <p:nvPr/>
        </p:nvPicPr>
        <p:blipFill>
          <a:blip r:embed="rId1"/>
          <a:stretch/>
        </p:blipFill>
        <p:spPr>
          <a:xfrm>
            <a:off x="5852160" y="1645920"/>
            <a:ext cx="55162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Academic Literature Survey Summary (Clean Baseline)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ounded Rectangle 5"/>
          <p:cNvSpPr/>
          <p:nvPr/>
        </p:nvSpPr>
        <p:spPr>
          <a:xfrm>
            <a:off x="731520" y="153612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6"/>
          <p:cNvSpPr/>
          <p:nvPr/>
        </p:nvSpPr>
        <p:spPr>
          <a:xfrm>
            <a:off x="914400" y="1591200"/>
            <a:ext cx="103626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Mishra et al. (2026, IEEE Transactions)  —  AI-Enhanced Blockchain-Based Certificate Verification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Key Finding: Hybrid CNN-BiLSTM architecture achieving 98.3% accuracy in visual and semantic certificate forgery detection.  |  Creditz Alignment: Direct theoretical foundation for Creditz's multimodal OCR pipeline and cross-field discrepancy checking.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731520" y="252360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8"/>
          <p:cNvSpPr/>
          <p:nvPr/>
        </p:nvSpPr>
        <p:spPr>
          <a:xfrm>
            <a:off x="914400" y="2578680"/>
            <a:ext cx="103626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Nguyen et al. (2025, IEEE Access)  —  Knowledge Graph Framework for Degree Pathway Recommendations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Key Finding: Semantic representation of course prerequisites, curriculum milestones, and institutional constraint enforcement.  |  Creditz Alignment: Informed Creditz's domain category cap structure and semester credit velocity tracking.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0" name="Rounded Rectangle 9"/>
          <p:cNvSpPr/>
          <p:nvPr/>
        </p:nvSpPr>
        <p:spPr>
          <a:xfrm>
            <a:off x="731520" y="351144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TextBox 10"/>
          <p:cNvSpPr/>
          <p:nvPr/>
        </p:nvSpPr>
        <p:spPr>
          <a:xfrm>
            <a:off x="914400" y="3566160"/>
            <a:ext cx="103626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Chen et al. (2018, IEEE Transactions on Software Engineering)  —  DRLGENCERT: Automated Testing of Certificate Verification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Key Finding: Reinforcement learning for certificate feature extraction, boundary case exploration, and discrepancy detection.  |  Creditz Alignment: Guided the automated validation rules for issuing body matching and date range checks.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2" name="Rounded Rectangle 11"/>
          <p:cNvSpPr/>
          <p:nvPr/>
        </p:nvSpPr>
        <p:spPr>
          <a:xfrm>
            <a:off x="731520" y="449892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12"/>
          <p:cNvSpPr/>
          <p:nvPr/>
        </p:nvSpPr>
        <p:spPr>
          <a:xfrm>
            <a:off x="914400" y="4553640"/>
            <a:ext cx="103626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Zhang et al. (2024, IEEE Transactions on Learning Technologies)  —  Temporal Point Process Model for Academic Progression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Key Finding: Models learning motivation cycles and temporal credit accumulation patterns across undergraduate programs.  |  Creditz Alignment: Empirical justification for enforcing the AICTE 30-point continuous development semester ceiling.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4" name="Rounded Rectangle 13"/>
          <p:cNvSpPr/>
          <p:nvPr/>
        </p:nvSpPr>
        <p:spPr>
          <a:xfrm>
            <a:off x="731520" y="5486400"/>
            <a:ext cx="10728360" cy="877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14"/>
          <p:cNvSpPr/>
          <p:nvPr/>
        </p:nvSpPr>
        <p:spPr>
          <a:xfrm>
            <a:off x="914400" y="5541120"/>
            <a:ext cx="103626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Edge et al. (2024, Microsoft Research)  —  From Local to Global: Graph RAG Summarization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Key Finding: Demonstrated that grounded contextual graphs eliminate LLM hallucinations during document verification.  |  Creditz Alignment: Reinforces Creditz's deterministic schema grounding over raw generative AI outputs.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Role 1: Student Degree Clearance Portal (Version 3 Minimalized UI)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9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Rounded Rectangle 5"/>
          <p:cNvSpPr/>
          <p:nvPr/>
        </p:nvSpPr>
        <p:spPr>
          <a:xfrm>
            <a:off x="731520" y="1554480"/>
            <a:ext cx="43887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6"/>
          <p:cNvSpPr/>
          <p:nvPr/>
        </p:nvSpPr>
        <p:spPr>
          <a:xfrm>
            <a:off x="914400" y="1691640"/>
            <a:ext cx="4023000" cy="31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STUDENT CAPABILITIES (V3)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200-Point Clearance Meter: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Live visual gauge tracking total approved credits toward graduation with milestone tiers (Bronze 50, Silver 100, Gold 150, Diamond 200).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1-Click Official PDF Transcript: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Prominent button opening the official A4 degree transcript modal with verification hash for instant print and download.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Current Semester Focus Card: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Minimalized card displaying current semester progress vs the 30 pts/sem limit, with expandable 8-semester historical drawer.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Plain-English Status Badges: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Replaced developer jargon with clear labels: 'Digitally Verified &amp; Recorded', 'Under Faculty Review', 'Approved Degree Credits'.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Interactive Meeting Space: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Direct bell-icon popover to request advisory meetings with faculty mentor and view scheduled sessions.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22" name="Rounded Rectangle 7"/>
          <p:cNvSpPr/>
          <p:nvPr/>
        </p:nvSpPr>
        <p:spPr>
          <a:xfrm>
            <a:off x="5303520" y="1554480"/>
            <a:ext cx="61563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23" name="Picture 8" descr="v3_student_dashboard.png"/>
          <p:cNvPicPr/>
          <p:nvPr/>
        </p:nvPicPr>
        <p:blipFill>
          <a:blip r:embed="rId1"/>
          <a:stretch/>
        </p:blipFill>
        <p:spPr>
          <a:xfrm>
            <a:off x="5394960" y="1645920"/>
            <a:ext cx="59734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Institutional Innovation: 1-Click Official PDF Credit Report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Rounded Rectangle 5"/>
          <p:cNvSpPr/>
          <p:nvPr/>
        </p:nvSpPr>
        <p:spPr>
          <a:xfrm>
            <a:off x="731520" y="1554480"/>
            <a:ext cx="43887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TextBox 6"/>
          <p:cNvSpPr/>
          <p:nvPr/>
        </p:nvSpPr>
        <p:spPr>
          <a:xfrm>
            <a:off x="914400" y="1691640"/>
            <a:ext cx="4023000" cy="31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ACCREDITATION REPORT SPECS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NBA &amp; NAAC Institutional Letterhead: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Formally formatted with institution title, accreditation status (A++ Grade), state university affiliation, and CSE department seal.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Unique Verification Hash &amp; QR Code: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Generates a unique tamper-evident verification reference string (CRD-CSE-1RV21CS101-PCW9QU) for instant physical document validation.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Continuous Learning Ceiling Breakdown: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Differentiates Total Approved Points (125 pts) from Effective Degree Points (85 pts) and Capped Excess (+40 pts) per AICTE rules.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Category Domain Compliance Table: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Verifies compliance against institutional caps across Community Service, Hackathons, Internships, and Technical Certifications.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Official Sign-off Section: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Dual formal authorization blocks with designations for Faculty Mentor and Head of Department for graduation audit portfolios.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0" name="Rounded Rectangle 7"/>
          <p:cNvSpPr/>
          <p:nvPr/>
        </p:nvSpPr>
        <p:spPr>
          <a:xfrm>
            <a:off x="5303520" y="1554480"/>
            <a:ext cx="61563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31" name="Picture 8" descr="v3_pdf_transcript_modal.png"/>
          <p:cNvPicPr/>
          <p:nvPr/>
        </p:nvPicPr>
        <p:blipFill>
          <a:blip r:embed="rId1"/>
          <a:stretch/>
        </p:blipFill>
        <p:spPr>
          <a:xfrm>
            <a:off x="5394960" y="1645920"/>
            <a:ext cx="59734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Role 2: Faculty Mentor Advisory &amp; Verification Console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5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Rounded Rectangle 5"/>
          <p:cNvSpPr/>
          <p:nvPr/>
        </p:nvSpPr>
        <p:spPr>
          <a:xfrm>
            <a:off x="731520" y="1554480"/>
            <a:ext cx="43887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TextBox 6"/>
          <p:cNvSpPr/>
          <p:nvPr/>
        </p:nvSpPr>
        <p:spPr>
          <a:xfrm>
            <a:off x="914400" y="1691640"/>
            <a:ext cx="4023000" cy="31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18cf8"/>
                </a:solidFill>
                <a:latin typeface="Calibri"/>
              </a:rPr>
              <a:t>MENTOR CONSOLE CAPABILITIES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Action-Oriented Dashboard: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Replaced crowded 10-student card grid with 2 clean shortcut cards (Assigned Mentees &amp; Mentee Academic Marks) and prominent Pending Review alerts.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Pending Certificate Queue: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Instant visibility into unreviewed student submissions (e.g. AWS Cloud Certification) requiring faculty signature and points allocation.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Side-by-Side Proof Viewer: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Inspects uploaded certificate image/PDF alongside AI multimodal OCR extraction fields and authenticity confidence metrics.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1-Click Verification Decisions: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Approve, reject, or request revisions with structured faculty feedback recorded in student timeline.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Holistic Mentee Monitoring: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Track academic semester marks (CIE, labs, SGPA) alongside co-curricular points to ensure balanced student development.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8" name="Rounded Rectangle 7"/>
          <p:cNvSpPr/>
          <p:nvPr/>
        </p:nvSpPr>
        <p:spPr>
          <a:xfrm>
            <a:off x="5303520" y="1554480"/>
            <a:ext cx="61563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39" name="Picture 8" descr="v3_mentor_dashboard.png"/>
          <p:cNvPicPr/>
          <p:nvPr/>
        </p:nvPicPr>
        <p:blipFill>
          <a:blip r:embed="rId1"/>
          <a:stretch/>
        </p:blipFill>
        <p:spPr>
          <a:xfrm>
            <a:off x="5394960" y="1645920"/>
            <a:ext cx="59734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Faculty Mentor Visual Analytics (Targeted Mentorship Intelligence)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3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Rounded Rectangle 5"/>
          <p:cNvSpPr/>
          <p:nvPr/>
        </p:nvSpPr>
        <p:spPr>
          <a:xfrm>
            <a:off x="731520" y="1554480"/>
            <a:ext cx="43887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TextBox 6"/>
          <p:cNvSpPr/>
          <p:nvPr/>
        </p:nvSpPr>
        <p:spPr>
          <a:xfrm>
            <a:off x="914400" y="1691640"/>
            <a:ext cx="4023000" cy="31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bbf24"/>
                </a:solidFill>
                <a:latin typeface="Calibri"/>
              </a:rPr>
              <a:t>ANALYTICS DESK HIGHLIGHTS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Isolated to Faculty Mentors: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Visual charts intentionally removed from student views to avoid confusion, and consolidated into an in-depth Faculty Advisory workspace.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Category Domain Donut Chart: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Visualizes mentee points breakdown across all 6 activity domains, immediately exposing category cap saturation or domain deficits.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Semester Credit Velocity Chart: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Bar chart plotting semester-wise credits against the red dashed 30-point ceiling line, highlighting approved credits vs capped excess.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200-Point Degree Trajectory Curve: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Milestone progress gauge (Bronze 50, Silver 100, Gold 150, Diamond 200) with detailed semester audit log table.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Proactive Academic Intervention: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Enables mentors to identify students falling behind in activity credits before graduation year deadlines.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6" name="Rounded Rectangle 7"/>
          <p:cNvSpPr/>
          <p:nvPr/>
        </p:nvSpPr>
        <p:spPr>
          <a:xfrm>
            <a:off x="5303520" y="1554480"/>
            <a:ext cx="61563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47" name="Picture 8" descr="v3_mentor_visual_analytics.png"/>
          <p:cNvPicPr/>
          <p:nvPr/>
        </p:nvPicPr>
        <p:blipFill>
          <a:blip r:embed="rId1"/>
          <a:stretch/>
        </p:blipFill>
        <p:spPr>
          <a:xfrm>
            <a:off x="5394960" y="1645920"/>
            <a:ext cx="59734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Real-Time Meeting &amp; Advisory Notice Space (Navbar Bell Icon)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Rounded Rectangle 5"/>
          <p:cNvSpPr/>
          <p:nvPr/>
        </p:nvSpPr>
        <p:spPr>
          <a:xfrm>
            <a:off x="731520" y="1554480"/>
            <a:ext cx="43887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fb71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TextBox 6"/>
          <p:cNvSpPr/>
          <p:nvPr/>
        </p:nvSpPr>
        <p:spPr>
          <a:xfrm>
            <a:off x="914400" y="1691640"/>
            <a:ext cx="4023000" cy="31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b7185"/>
                </a:solidFill>
                <a:latin typeface="Calibri"/>
              </a:rPr>
              <a:t>COMMUNICATION HIGHLIGHTS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Zero-Clutter Navbar Integration: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Clean message space housed entirely within the navbar bell icon popover without cluttering dashboards or sidebar navigation.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HOD to Mentors Communication: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Head of Department can broadcast urgent circulars, accreditation deadlines, and scheduled faculty review meetings.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Mentor to Mentees Advisories: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Mentors schedule physical certificate verification meetings, specify room/venue (e.g. Faculty Wing B, Room 204), and set meeting times.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Student Meeting Requests: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Students can initiate meeting requests with their assigned faculty mentor directly from the popover with a 1-click form.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Real-Time Synchronization: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Dynamic unread badge counter (pulsing red alert) and real-time polling updates keep all parties aligned without page reloads.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4" name="Rounded Rectangle 7"/>
          <p:cNvSpPr/>
          <p:nvPr/>
        </p:nvSpPr>
        <p:spPr>
          <a:xfrm>
            <a:off x="5303520" y="1554480"/>
            <a:ext cx="61563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5" name="Picture 8" descr="v3_bell_notifications.png"/>
          <p:cNvPicPr/>
          <p:nvPr/>
        </p:nvPicPr>
        <p:blipFill>
          <a:blip r:embed="rId1"/>
          <a:stretch/>
        </p:blipFill>
        <p:spPr>
          <a:xfrm>
            <a:off x="5394960" y="1645920"/>
            <a:ext cx="59734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Role 3: Head of Department (HOD) Governance &amp; Oversight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9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Rounded Rectangle 5"/>
          <p:cNvSpPr/>
          <p:nvPr/>
        </p:nvSpPr>
        <p:spPr>
          <a:xfrm>
            <a:off x="731520" y="1554480"/>
            <a:ext cx="438876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TextBox 6"/>
          <p:cNvSpPr/>
          <p:nvPr/>
        </p:nvSpPr>
        <p:spPr>
          <a:xfrm>
            <a:off x="914400" y="1691640"/>
            <a:ext cx="4023000" cy="31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HOD GOVERNANCE HIGHLIGHTS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Department Clearance Analytics: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Live department-level overview tracking total enrolled students (8), faculty mentors (2), average points (31.9/200), and graduation clearance rate.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Faculty Mentors Summary: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Real-time visibility into mentor workloads, mentee-to-faculty allocations, and pending review counts to prevent evaluation bottlenecks.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Category Point Distribution: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Aggregated analysis of points earned across Technical Certifications, Hackathons, Internships, Volunteering, and Sports domains.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De-jargonized Rule Management: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Simplified 'Point Rules &amp; Categories' management console allowing HOD to adjust category maximum caps dynamically.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1-Click Accreditation Export: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Instant CSV and consolidated transcript exports for AICTE, NAAC, and NBA statutory compliance committee visits.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2" name="Rounded Rectangle 7"/>
          <p:cNvSpPr/>
          <p:nvPr/>
        </p:nvSpPr>
        <p:spPr>
          <a:xfrm>
            <a:off x="5303520" y="1554480"/>
            <a:ext cx="6156360" cy="48459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63" name="Picture 8" descr="v3_hod_dashboard.png"/>
          <p:cNvPicPr/>
          <p:nvPr/>
        </p:nvPicPr>
        <p:blipFill>
          <a:blip r:embed="rId1"/>
          <a:stretch/>
        </p:blipFill>
        <p:spPr>
          <a:xfrm>
            <a:off x="5394960" y="1645920"/>
            <a:ext cx="5973480" cy="466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Technology Stack &amp; Version 3 Engineering Architecture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7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Rounded Rectangle 5"/>
          <p:cNvSpPr/>
          <p:nvPr/>
        </p:nvSpPr>
        <p:spPr>
          <a:xfrm>
            <a:off x="731520" y="155448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9" name="TextBox 6"/>
          <p:cNvSpPr/>
          <p:nvPr/>
        </p:nvSpPr>
        <p:spPr>
          <a:xfrm>
            <a:off x="914400" y="1691640"/>
            <a:ext cx="484596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[FRONTEND PRESENTATION]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React 19 &amp; Tailwind CSS v4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Stack: React 19, TypeScript, Vite 6, Tailwind CSS v4, Lucide Icons, Framer Motion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Responsive SPA with zero scroll traps; dynamic role-tailored dashboards, accessible modal dialogs, and native CSS print stylesheets for official PDF generation.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0" name="Rounded Rectangle 7"/>
          <p:cNvSpPr/>
          <p:nvPr/>
        </p:nvSpPr>
        <p:spPr>
          <a:xfrm>
            <a:off x="6217920" y="155448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8"/>
          <p:cNvSpPr/>
          <p:nvPr/>
        </p:nvSpPr>
        <p:spPr>
          <a:xfrm>
            <a:off x="6400800" y="1691640"/>
            <a:ext cx="484596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4d399"/>
                </a:solidFill>
                <a:latin typeface="Calibri"/>
              </a:rPr>
              <a:t>[APPLICATION RUNTIME]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Node.js 20/22 &amp; Express REST API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Stack: Node.js (ESM), Express 4.21, TypeScript (tsx), JWT Authentication, Multer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High-throughput API server handling authenticated endpoints, binary file uploads, deterministic rule calculations, and real-time meeting notification polling.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2" name="Rounded Rectangle 9"/>
          <p:cNvSpPr/>
          <p:nvPr/>
        </p:nvSpPr>
        <p:spPr>
          <a:xfrm>
            <a:off x="731520" y="406908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TextBox 10"/>
          <p:cNvSpPr/>
          <p:nvPr/>
        </p:nvSpPr>
        <p:spPr>
          <a:xfrm>
            <a:off x="914400" y="4206240"/>
            <a:ext cx="484596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818cf8"/>
                </a:solidFill>
                <a:latin typeface="Calibri"/>
              </a:rPr>
              <a:t>[ARTIFICIAL INTELLIGENCE]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Multimodal Vision OCR Engine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Stack: Google Gemini 1.5 Flash Vision (@google/genai SDK) + Smart Local Fallback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High-speed multimodal document understanding model extracting candidate name, issuing body, and dates, paired with an offline heuristic fallback for 100% reliability.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4" name="Rounded Rectangle 11"/>
          <p:cNvSpPr/>
          <p:nvPr/>
        </p:nvSpPr>
        <p:spPr>
          <a:xfrm>
            <a:off x="6217920" y="4069080"/>
            <a:ext cx="5211720" cy="2285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fbbf2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TextBox 12"/>
          <p:cNvSpPr/>
          <p:nvPr/>
        </p:nvSpPr>
        <p:spPr>
          <a:xfrm>
            <a:off x="6400800" y="4206240"/>
            <a:ext cx="4845960" cy="10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bbf24"/>
                </a:solidFill>
                <a:latin typeface="Calibri"/>
              </a:rPr>
              <a:t>[PERSISTENCE &amp; RELIABILITY]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SQLite WAL Mode (Write-Ahead Logging)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Stack: better-sqlite3 v12.11 with WAL Mode &amp; Immediate Transactions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ACID-compliant relational database with concurrent reader/writer support, sub-millisecond query latency, and zero-configuration single-file portability.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Rounded Rectangle 2"/>
          <p:cNvSpPr/>
          <p:nvPr/>
        </p:nvSpPr>
        <p:spPr>
          <a:xfrm>
            <a:off x="731520" y="365760"/>
            <a:ext cx="2559960" cy="29232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●  </a:t>
            </a:r>
            <a:r>
              <a:rPr b="1" lang="en-US" sz="1000" spc="-1" strike="noStrike">
                <a:solidFill>
                  <a:srgbClr val="38bdf8"/>
                </a:solidFill>
                <a:latin typeface="Calibri"/>
              </a:rPr>
              <a:t>CREDITZ PROTOTYPE V3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731520" y="685800"/>
            <a:ext cx="10698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Conclusion &amp; Future Roadmap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9" name="Rectangle 4"/>
          <p:cNvSpPr/>
          <p:nvPr/>
        </p:nvSpPr>
        <p:spPr>
          <a:xfrm>
            <a:off x="731520" y="1353240"/>
            <a:ext cx="10728360" cy="1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Rounded Rectangle 5"/>
          <p:cNvSpPr/>
          <p:nvPr/>
        </p:nvSpPr>
        <p:spPr>
          <a:xfrm>
            <a:off x="731520" y="1554480"/>
            <a:ext cx="521172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4d3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6"/>
          <p:cNvSpPr/>
          <p:nvPr/>
        </p:nvSpPr>
        <p:spPr>
          <a:xfrm>
            <a:off x="914400" y="1691640"/>
            <a:ext cx="4845960" cy="31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KEY ACHIEVEMENTS IN PROTOTYPE V3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Full Alignment with Panel Feedback: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Successfully purged cognitive clutter and replaced intimidating IT jargon with clear, non-IT friendly institutional language.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1-Click Official PDF Clearance Transcript: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Engineered A4 printable accredited transcript with tamper-evident QR verification hash and faculty/HOD sign-off blocks.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Faculty-Exclusive Visual Analytics: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Equipped mentors with multi-dimensional data analytics (category donut, velocity against 30-pt cap, degree trajectory) while simplifying student views.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Real-time Meeting &amp; Notice Space: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Added real-time notification popover to navbar bell icon enabling seamless HOD ➔ Mentor ➔ Student meeting coordination.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Deterministic AICTE Compliance: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Mathematically guarantees continuous development via 30 pts/semester cap and category ceilings with Google Gemini 1.5 Flash Vision OCR.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82" name="Rounded Rectangle 7"/>
          <p:cNvSpPr/>
          <p:nvPr/>
        </p:nvSpPr>
        <p:spPr>
          <a:xfrm>
            <a:off x="6217920" y="1554480"/>
            <a:ext cx="5211720" cy="484596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818c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TextBox 8"/>
          <p:cNvSpPr/>
          <p:nvPr/>
        </p:nvSpPr>
        <p:spPr>
          <a:xfrm>
            <a:off x="6400800" y="1691640"/>
            <a:ext cx="4845960" cy="27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18cf8"/>
                </a:solidFill>
                <a:latin typeface="Calibri"/>
              </a:rPr>
              <a:t>FUTURE ROADMAP &amp; PRODUCTION EXPANSION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🚀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National DigiLocker API Integration: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Direct integration with India's DigiLocker / NAD system for automated zero-upload certificate verification directly from issuers.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🚀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Blockchain Credential Anchoring: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Anchor finalized degree clearance hashes on Hyperledger or Ethereum testnet for tamper-proof post-graduation verification by employers.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🚀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Native Mobile PWA with Push Alerts: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Progressive Web App (PWA) with native mobile push notifications for real-time meeting reminders and event registrations.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🚀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Inter-College Activity Point Portability: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Calibri"/>
              </a:rPr>
              <a:t>Standardized activity credit interchange format allowing seamless credit transfer for lateral entry and university transfer students.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13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Rounded Rectangle 2"/>
          <p:cNvSpPr/>
          <p:nvPr/>
        </p:nvSpPr>
        <p:spPr>
          <a:xfrm>
            <a:off x="2011680" y="1097280"/>
            <a:ext cx="8168040" cy="466308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524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TextBox 3"/>
          <p:cNvSpPr/>
          <p:nvPr/>
        </p:nvSpPr>
        <p:spPr>
          <a:xfrm>
            <a:off x="2286000" y="1463040"/>
            <a:ext cx="7619400" cy="266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</a:rPr>
              <a:t>Thank You!</a:t>
            </a:r>
            <a:endParaRPr b="0" lang="en-IN" sz="4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</a:pPr>
            <a:r>
              <a:rPr b="1" lang="en-US" sz="2200" spc="-1" strike="noStrike">
                <a:solidFill>
                  <a:srgbClr val="38bdf8"/>
                </a:solidFill>
                <a:latin typeface="Calibri"/>
              </a:rPr>
              <a:t>CREDITZ (Prototype v3)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400" spc="-1" strike="noStrike">
                <a:solidFill>
                  <a:srgbClr val="94a3b8"/>
                </a:solidFill>
                <a:latin typeface="Calibri"/>
              </a:rPr>
              <a:t>An Intelligent Activity Credit Management &amp; Degree Clearance System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01"/>
              </a:spcBef>
              <a:buNone/>
            </a:pPr>
            <a:r>
              <a:rPr b="1" lang="en-US" sz="1500" spc="-1" strike="noStrike">
                <a:solidFill>
                  <a:srgbClr val="fbbf24"/>
                </a:solidFill>
                <a:latin typeface="Calibri"/>
              </a:rPr>
              <a:t>✨ </a:t>
            </a:r>
            <a:r>
              <a:rPr b="1" lang="en-US" sz="1500" spc="-1" strike="noStrike">
                <a:solidFill>
                  <a:srgbClr val="fbbf24"/>
                </a:solidFill>
                <a:latin typeface="Calibri"/>
              </a:rPr>
              <a:t>Open for Evaluation Panel Feedback, Demonstration &amp; Discussion ✨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  <a:buNone/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Department of Computer Science &amp; Engineering</a:t>
            </a:r>
            <a:br>
              <a:rPr sz="1200"/>
            </a:b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Autonomous Institute of Technology &amp; Sciences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2026-09-07T23:08:27Z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